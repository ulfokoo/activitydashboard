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3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4971" autoAdjust="0"/>
  </p:normalViewPr>
  <p:slideViewPr>
    <p:cSldViewPr snapToGrid="0" snapToObjects="1">
      <p:cViewPr>
        <p:scale>
          <a:sx n="87" d="100"/>
          <a:sy n="87" d="100"/>
        </p:scale>
        <p:origin x="60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Banana DSCR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DSCR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Year 2</c:v>
                </c:pt>
                <c:pt idx="1">
                  <c:v>Year 3</c:v>
                </c:pt>
                <c:pt idx="2">
                  <c:v>Year 4</c:v>
                </c:pt>
                <c:pt idx="3">
                  <c:v>Year 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2.04</c:v>
                </c:pt>
                <c:pt idx="1">
                  <c:v>2.04</c:v>
                </c:pt>
                <c:pt idx="2">
                  <c:v>2.04</c:v>
                </c:pt>
                <c:pt idx="3">
                  <c:v>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B-4241-87B3-96A3158964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574-45D1-AB83-D8889DE19C4C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74-45D1-AB83-D8889DE19C4C}"/>
              </c:ext>
            </c:extLst>
          </c:dPt>
          <c:dPt>
            <c:idx val="2"/>
            <c:bubble3D val="0"/>
            <c:spPr>
              <a:solidFill>
                <a:srgbClr val="B795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74-45D1-AB83-D8889DE19C4C}"/>
              </c:ext>
            </c:extLst>
          </c:dPt>
          <c:dPt>
            <c:idx val="3"/>
            <c:bubble3D val="0"/>
            <c:spPr>
              <a:solidFill>
                <a:srgbClr val="5C403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74-45D1-AB83-D8889DE19C4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74-45D1-AB83-D8889DE19C4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574-45D1-AB83-D8889DE19C4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574-45D1-AB83-D8889DE19C4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574-45D1-AB83-D8889DE19C4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Farmer Equity</c:v>
                </c:pt>
                <c:pt idx="1">
                  <c:v>Insurance Coverage</c:v>
                </c:pt>
                <c:pt idx="2">
                  <c:v>Bank First Loss</c:v>
                </c:pt>
                <c:pt idx="3">
                  <c:v>Dev. Partner Guarantee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80</c:v>
                </c:pt>
                <c:pt idx="2">
                  <c:v>3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74-45D1-AB83-D8889DE19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Stack Breakdown (ETB 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(ETB M)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Interest Income</c:v>
                </c:pt>
                <c:pt idx="1">
                  <c:v>Insurance Commission</c:v>
                </c:pt>
                <c:pt idx="2">
                  <c:v>Lersha Platform Fee</c:v>
                </c:pt>
                <c:pt idx="3">
                  <c:v>Admin &amp; Processing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</c:v>
                </c:pt>
                <c:pt idx="1">
                  <c:v>58</c:v>
                </c:pt>
                <c:pt idx="2">
                  <c:v>25.8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FC-4A73-903A-9F701D4DE1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16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DSCR: Debt Service Coverage Ratio</a:t>
            </a:r>
            <a:br>
              <a:rPr lang="en-US" dirty="0"/>
            </a:br>
            <a:r>
              <a:rPr lang="en-US" dirty="0"/>
              <a:t>IRR: Project Internal Rate of Return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5486400" cy="54864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0" y="4754880"/>
            <a:ext cx="2743200" cy="27432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15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Bank of Oromia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686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CLIMATE-SMART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HORTICULTURE LOAN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 Proposal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Agricultural Financing Framework for Smallholder Farmers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5074920"/>
            <a:ext cx="3657600" cy="0"/>
          </a:xfrm>
          <a:prstGeom prst="line">
            <a:avLst/>
          </a:prstGeom>
          <a:noFill/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5257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Management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3258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purpose and strategic alignment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3774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Business Case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Ethiopia's horticulture landscape and opportunity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4290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CSHL structure, scope and PPP framework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44805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&amp; Loan Terms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criteria, tenure and fees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34924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553212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5440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Assumptions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852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CAPEX/OPEX packages and production economics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06240" y="114300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15968" y="132588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1596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&amp; Viability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projections for banana and avocado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219456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15968" y="237744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1596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3776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credit-risk sharing and mitigation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06240" y="324612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315968" y="342900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15968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3776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journey and phasing plan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06240" y="429768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15968" y="44805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315968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37760" y="4389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Projections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93776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revenues and profitability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06240" y="5349240"/>
            <a:ext cx="5577840" cy="9144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315968" y="553212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315968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37760" y="5440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&amp; Sustainability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937760" y="5852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social and governance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– Snapshot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Climate-Smart Horticulture Loan (CSHL) is a specialized agricultural financing product by Cooperative Bank of Oromia to enable smallholder banana and avocado farmers to adopt solar-powered irrigation, drip systems, and precision-agriculture technologies — driving productivity, resilience, and household income.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Farmers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(50%+ women &amp; youth)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0864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40864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860K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40864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Size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1.29B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15968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Portfolio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91072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~14.7%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91072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66176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66176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66176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Partners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 + private)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0" y="192024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0" y="20574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2→3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0241280" y="292608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1143000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023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560320" y="40233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 CRGE Strategy  •  National Irrigation Development Strategy  •  SDGs 1, 2, 5, 8, 13, 15  •  ESG / Green Finance  •  National Financial Inclusion Strategy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diesel pumps with solar irrigation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978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irrigation costs by 40–60%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5486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financial inclusion for women &amp; youth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58978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nationwide after successful pilot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Business Case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Ethiopia's horticulture opportunity and the problems we solve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– Constraints Facing Smallholders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240280" cy="3657600"/>
          </a:xfrm>
          <a:prstGeom prst="roundRect">
            <a:avLst>
              <a:gd name="adj" fmla="val 4082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medium/long-term finance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96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collateral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11810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tailored horticulture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87752" y="1051560"/>
            <a:ext cx="2240280" cy="3657600"/>
          </a:xfrm>
          <a:prstGeom prst="roundRect">
            <a:avLst>
              <a:gd name="adj" fmla="val 4082"/>
            </a:avLst>
          </a:prstGeom>
          <a:solidFill>
            <a:srgbClr val="2D6A4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87752" y="1143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70632" y="1737360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24912" y="1874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solar irrigation adoption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2496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affordable equipment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311810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after-sales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01184" y="1051560"/>
            <a:ext cx="2240280" cy="3657600"/>
          </a:xfrm>
          <a:prstGeom prst="roundRect">
            <a:avLst>
              <a:gd name="adj" fmla="val 4082"/>
            </a:avLst>
          </a:prstGeom>
          <a:solidFill>
            <a:srgbClr val="52B7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01184" y="1143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84064" y="1737360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38344" y="1874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diesel irrigation costs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38344" y="2496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water-use efficiency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38344" y="311810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Climate-related production losses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14616" y="1051560"/>
            <a:ext cx="2240280" cy="3657600"/>
          </a:xfrm>
          <a:prstGeom prst="roundRect">
            <a:avLst>
              <a:gd name="adj" fmla="val 4082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14616" y="1143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97496" y="1737360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51776" y="1874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market linkages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51776" y="2496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post-harvest losses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51776" y="311810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fluctuations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28048" y="1051560"/>
            <a:ext cx="2240280" cy="3657600"/>
          </a:xfrm>
          <a:prstGeom prst="roundRect">
            <a:avLst>
              <a:gd name="adj" fmla="val 4082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28048" y="11430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10928" y="1737360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65208" y="18745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crop insurance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65208" y="2496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coordination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65208" y="3118104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advisory services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983480"/>
            <a:ext cx="1161288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9834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Evidence: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49834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irrigated holding: 0.31 ha  |  Avg. annual income: ~USD 1,214  |  Irrigation: diesel pumps  |  Solar adoption: very low  |  Formal finance: limited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Horticulture? Why Now?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Horticulture: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Ethiopia's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Fastest-Growing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 Subsector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4297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= 33% GDP  •  70%+ of employment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Banana: most widely cultivated fruit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Avocado: high export potential to Middle East, Europe &amp; Africa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051560"/>
            <a:ext cx="3337560" cy="4754880"/>
          </a:xfrm>
          <a:prstGeom prst="roundRect">
            <a:avLst>
              <a:gd name="adj" fmla="val 2740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1887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3520" y="1783080"/>
            <a:ext cx="27432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66360" y="192024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production cycle (8–10 months to first harvest)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66360" y="242316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harvesting year-round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66360" y="2926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domestic demand &amp; stable cash flow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66360" y="342900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2–3-year loan tenure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66360" y="393192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gate: ETB 28/kg  |  Yield: 40 t/ha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0" y="45262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6636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1,120,000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452628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45537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28–35% IRR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4983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95360" y="1051560"/>
            <a:ext cx="3337560" cy="4754880"/>
          </a:xfrm>
          <a:prstGeom prst="roundRect">
            <a:avLst>
              <a:gd name="adj" fmla="val 2740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95360" y="11887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Avocado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0" y="1783080"/>
            <a:ext cx="27432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32520" y="192024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export demand – Middle East, Europe, Africa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32520" y="242316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lifespan of 25–30 years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32520" y="292608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yield: 12–18 t/ha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732520" y="342900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gate: ETB 90/kg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32520" y="3931920"/>
            <a:ext cx="3063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3–5-year loan with step-up repayment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32520" y="45262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3252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1,350,000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3252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378440" y="4526280"/>
            <a:ext cx="1417320" cy="731520"/>
          </a:xfrm>
          <a:prstGeom prst="roundRect">
            <a:avLst>
              <a:gd name="adj" fmla="val 1250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78440" y="455371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22–30% IRR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78440" y="498348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Irrigation vs Diesel – The Cost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FF3CD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95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⛽  Diesel Irrigation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&amp; unpredictable fuel prices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9572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fuel shortages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6265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operating &amp; maintenance costs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2958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GHG emissions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09651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farm profitability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up to ETB 1.20M/ha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06440" y="2834640"/>
            <a:ext cx="640080" cy="822960"/>
          </a:xfrm>
          <a:prstGeom prst="rightArrow">
            <a:avLst/>
          </a:prstGeom>
          <a:solidFill>
            <a:srgbClr val="52B788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105156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1430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☀  Solar Irrigation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82880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fuel cost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239572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Reduced maintenance expenses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296265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Improved farm profitability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352958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GHG emissions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409651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Reliable year-round water supply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466344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Water-use efficiency +30–60%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5897880"/>
            <a:ext cx="11430000" cy="6858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58978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diesel with solar can reduce recurring irrigation operating costs by 40–60%, dramatically improving loan repayment capacity.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Design &amp; PPP Framework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CSHL structure, scope and partnership model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CSHL – Product Vision &amp; Mission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Ethiopia's leading climate-smart agricultural financing solution — enabling smallholder farmers to adopt modern irrigation technologies, increase productivity, improve household incomes, and build resilience to climate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6916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affordable, accessible, and sustainable financing for climate-smart horticulture investments through integrated financial services, digital agriculture solutions, agricultural insurance, and strategic partnerships.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climate finance portfolio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loan portfolio quality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5532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sustainable interest income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74904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2D6A4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434340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solar irrigation adoption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efficient water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5532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banana &amp; avocado productivity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34340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rural household incomes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financial inclusion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5532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women's economic empowerment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0" y="3749040"/>
            <a:ext cx="2788920" cy="2514600"/>
          </a:xfrm>
          <a:prstGeom prst="roundRect">
            <a:avLst>
              <a:gd name="adj" fmla="val 3636"/>
            </a:avLst>
          </a:prstGeom>
          <a:solidFill>
            <a:srgbClr val="B7950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0" y="3840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72600" y="434340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434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diesel irrigation dependence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81160" y="49834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GHG emissions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5532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water-use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Public-Private Partnership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846320" y="2286000"/>
            <a:ext cx="2468880" cy="2468880"/>
          </a:xfrm>
          <a:prstGeom prst="ellipse">
            <a:avLst/>
          </a:prstGeom>
          <a:solidFill>
            <a:srgbClr val="1B4332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46320" y="23317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Oromia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Institutions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Agriculture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Transformation Institute (ATI)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CIAT / ImpactSF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564892"/>
            <a:ext cx="566928" cy="384048"/>
          </a:xfrm>
          <a:prstGeom prst="line">
            <a:avLst/>
          </a:prstGeom>
          <a:noFill/>
          <a:ln w="19050">
            <a:solidFill>
              <a:srgbClr val="52B78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02882" y="961949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7200" y="1121055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Institutions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145755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Bank of Oromia (Lead)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40042" y="186903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 of Ethiopia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99478" y="2337207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Dashen Bank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4868" y="4396435"/>
            <a:ext cx="1481328" cy="808330"/>
          </a:xfrm>
          <a:prstGeom prst="line">
            <a:avLst/>
          </a:prstGeom>
          <a:noFill/>
          <a:ln w="19050">
            <a:solidFill>
              <a:srgbClr val="52B78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B7950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206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AgTech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Lersha (Digital Platform)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50657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Pump Suppliers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5468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Equipment Suppliers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 flipV="1">
            <a:off x="4389120" y="4396435"/>
            <a:ext cx="809244" cy="632765"/>
          </a:xfrm>
          <a:prstGeom prst="line">
            <a:avLst/>
          </a:prstGeom>
          <a:noFill/>
          <a:ln w="19050">
            <a:solidFill>
              <a:srgbClr val="52B78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14132" y="4103828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5C403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55764" y="4162349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&amp; Markets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52460" y="4614063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Oromia Insurance Company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52460" y="5012741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Off-takers &amp; Export Companies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52460" y="5468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 / Gates Foundation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35440" y="5029200"/>
            <a:ext cx="0" cy="0"/>
          </a:xfrm>
          <a:prstGeom prst="line">
            <a:avLst/>
          </a:prstGeom>
          <a:noFill/>
          <a:ln w="19050">
            <a:solidFill>
              <a:srgbClr val="52B78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5FD6F360-BF95-B0F9-80BE-416BE55A0C4F}"/>
              </a:ext>
            </a:extLst>
          </p:cNvPr>
          <p:cNvSpPr/>
          <p:nvPr/>
        </p:nvSpPr>
        <p:spPr>
          <a:xfrm flipH="1">
            <a:off x="7095744" y="2618842"/>
            <a:ext cx="629414" cy="292608"/>
          </a:xfrm>
          <a:prstGeom prst="line">
            <a:avLst/>
          </a:prstGeom>
          <a:noFill/>
          <a:ln w="19050">
            <a:solidFill>
              <a:srgbClr val="52B788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Loan Finances – CAPEX &amp; OPEX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806440" cy="5029200"/>
          </a:xfrm>
          <a:prstGeom prst="roundRect">
            <a:avLst>
              <a:gd name="adj" fmla="val 2182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– Capital Investments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257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water pumps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panels &amp; controllers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Drip irrigation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Sprinkler irrigation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storage tanks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pipes &amp; fittings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494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Chameleon soil sensors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7614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commissioning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273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establishment costs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7856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407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450,000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914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43891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4407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 financed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20440" y="47914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Bank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1005840"/>
            <a:ext cx="5806440" cy="5029200"/>
          </a:xfrm>
          <a:prstGeom prst="roundRect">
            <a:avLst>
              <a:gd name="adj" fmla="val 2182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1097280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– Seasonal Working Capital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1645920"/>
            <a:ext cx="5257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1737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seedlings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2494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Fertilizers &amp; compost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7614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protection chemicals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273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costs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7856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preparation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26880" y="17373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maintenance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0" y="22494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costs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0" y="27614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materials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3273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378561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working capital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12280" y="43891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12280" y="4407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465,625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12280" y="47914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55480" y="438912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555480" y="44074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financed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555480" y="479145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Bank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&amp; Loan Terms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qualifies and what the loan covers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Eligibility Criteria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32588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704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citizen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40487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494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334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years and above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483864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3284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Experience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7124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years in horticulture (or strong technical support for new entrants)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34256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4562856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407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Size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79145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Preferably less than 1 hectare for pilot participants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413248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5641848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5641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5486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Tenure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58704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Second-Level Land Certificate (SLLC) or legally recognized land-use rights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1097280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73368" y="132588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73368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11704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Account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22008" y="155448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 with Cooperative Bank of Oromia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2176272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73368" y="240487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7336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22008" y="22494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Contribution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22008" y="263347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30% of CAPEX (20% for women and youth)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3255264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73368" y="3483864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73368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22008" y="33284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22008" y="371246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enrollment in approved agricultural insurance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63640" y="4334256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373368" y="4562856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73368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22008" y="4407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Linkage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22008" y="479145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off-taker agreement, cooperative membership, or established marketing channels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63640" y="5413248"/>
            <a:ext cx="5715000" cy="960120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73368" y="5641848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73368" y="5641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22008" y="5486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22008" y="587044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of climate-smart agriculture and financial literacy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Terms &amp; Fees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Tenure &amp; Repayment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204140"/>
              </p:ext>
            </p:extLst>
          </p:nvPr>
        </p:nvGraphicFramePr>
        <p:xfrm>
          <a:off x="365760" y="1508760"/>
          <a:ext cx="557784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Semi-annual step-up installments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Semi-annual step-up installments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108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Contribution by Category</a:t>
            </a:r>
            <a:endParaRPr lang="en-US" sz="15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47872"/>
          <a:ext cx="5577840" cy="12801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Equity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Farmers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 Borrowers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(concessionary)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 Borrowers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(concessionary)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92240" y="10515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Fees &amp; Charges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92240" y="150876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629400" y="15544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Interest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738360" y="15544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14%–21% p.a.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92240" y="2167128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29400" y="22128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738360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3%–6% of loan</a:t>
            </a:r>
            <a:endParaRPr lang="en-US" sz="1300" dirty="0"/>
          </a:p>
        </p:txBody>
      </p:sp>
      <p:sp>
        <p:nvSpPr>
          <p:cNvPr id="5" name="Shape 11"/>
          <p:cNvSpPr/>
          <p:nvPr/>
        </p:nvSpPr>
        <p:spPr>
          <a:xfrm>
            <a:off x="6492240" y="2825496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629400" y="2871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Lersha Digital Service Fee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738360" y="2871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 flat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92240" y="3483864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629400" y="35295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 Fee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738360" y="3529584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Bank policy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92240" y="4142232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629400" y="4187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Registration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738360" y="41879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cost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480060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629400" y="4846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Payment Charges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738360" y="4846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Bank policy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Packages – CAPEX Breakdown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806440" cy="5303520"/>
          </a:xfrm>
          <a:prstGeom prst="roundRect">
            <a:avLst>
              <a:gd name="adj" fmla="val 2069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806440" cy="82296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1 – Solar Pump + Drip &amp; Sprinkler Irrigation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5440680" cy="42428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(ETB)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&amp; Accessories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Storage Tank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Drip Irrigation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Sprinkler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&amp;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&amp; Commissioning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2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005840"/>
            <a:ext cx="5806440" cy="5303520"/>
          </a:xfrm>
          <a:prstGeom prst="roundRect">
            <a:avLst>
              <a:gd name="adj" fmla="val 2069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355080" y="1005840"/>
            <a:ext cx="580644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0" y="10515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2 – Solar Pump + Chameleon Sensors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20240"/>
          <a:ext cx="5440680" cy="336499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(ETB)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Pump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Irrigation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Chameleon Sensors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00B0F0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00B0F0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Assumptions &amp; Viability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economics and cash-flow projections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Financing Structure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Project Cost: ETB 915,625  |  Loan Amount Range: ETB 780,625 – 825,625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669280" cy="402336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669280" cy="68580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Farmers (30% Equity)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4288"/>
          <a:ext cx="5303520" cy="31089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Equity (30%)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135,000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CAPEX Financing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315,000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Financing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465,625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BANK 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780,625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554480"/>
            <a:ext cx="5669280" cy="4023360"/>
          </a:xfrm>
          <a:prstGeom prst="roundRect">
            <a:avLst>
              <a:gd name="adj" fmla="val 2273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09360" y="1554480"/>
            <a:ext cx="5669280" cy="6858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002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&amp; Youth (20% Equity)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304288"/>
          <a:ext cx="5303520" cy="31089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Investment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Equity (20%)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90,000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CAPEX Financing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360,000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Financing (100%)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465,625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BANK LOAN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825,625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 Production – Financial Projections (1 ha)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4663440"/>
          </a:xfrm>
          <a:prstGeom prst="roundRect">
            <a:avLst>
              <a:gd name="adj" fmla="val 2381"/>
            </a:avLst>
          </a:prstGeom>
          <a:solidFill>
            <a:srgbClr val="D8F3DC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Size: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hectare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2677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(95% survival = 1,710 productive)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3522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Harvest: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93522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0273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Yield: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60273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tonnes/ha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Gate Price: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42702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28/kg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937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4937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1,120,000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Operating Costs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463040"/>
          <a:ext cx="3474720" cy="457199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Preparation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35,000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Planting Materials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70,000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Fertilizers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95,000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Protection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120,000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 Maintenance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30,000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15,000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15,625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43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ETB 465,625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229600" y="10515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0" y="11887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2.04x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8229600" y="185623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(Yrs 2–3)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repayment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195560" y="10515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195560" y="118872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28–35%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0195560" y="1929384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0" y="269748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28346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1.5–2 yrs</a:t>
            </a:r>
            <a:endParaRPr lang="en-US" sz="3600" dirty="0"/>
          </a:p>
        </p:txBody>
      </p:sp>
      <p:sp>
        <p:nvSpPr>
          <p:cNvPr id="28" name="Text 25"/>
          <p:cNvSpPr/>
          <p:nvPr/>
        </p:nvSpPr>
        <p:spPr>
          <a:xfrm>
            <a:off x="8206740" y="3666744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0195560" y="269748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95560" y="283464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654K</a:t>
            </a:r>
            <a:endParaRPr lang="en-US" sz="3600" dirty="0"/>
          </a:p>
        </p:txBody>
      </p:sp>
      <p:sp>
        <p:nvSpPr>
          <p:cNvPr id="31" name="Text 28"/>
          <p:cNvSpPr/>
          <p:nvPr/>
        </p:nvSpPr>
        <p:spPr>
          <a:xfrm>
            <a:off x="10195560" y="363931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Operating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Income/yr</a:t>
            </a:r>
            <a:endParaRPr lang="en-US" sz="12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8046720" y="4343400"/>
          <a:ext cx="39776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Avocado Production – Financial Projections (1 ha)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Timeline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6C757D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4630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237744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4630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52B78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Harvest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66360" y="237744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4 t/ha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ETB 360,000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14630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2D6A4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092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Prod.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237744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6092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8 t/ha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ETB 720,000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92640" y="146304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92640" y="15361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5+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29800" y="237744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9264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12–18 t/ha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0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ETB 1,080–1,620K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Avocado DSCR – Step-Up Repayment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77640"/>
          <a:ext cx="685800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Service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-105,625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795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0.70x 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254,375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884,375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2.53x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365760" y="5715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 covers Years 1–2 (interest only). Step-up repayment aligns with production ramp-up.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229600" y="3474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29600" y="36118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22–30%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8229600" y="42793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0195560" y="3474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0195560" y="36118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yrs</a:t>
            </a:r>
            <a:endParaRPr lang="en-US" sz="3600" dirty="0"/>
          </a:p>
        </p:txBody>
      </p:sp>
      <p:sp>
        <p:nvSpPr>
          <p:cNvPr id="41" name="Text 38"/>
          <p:cNvSpPr/>
          <p:nvPr/>
        </p:nvSpPr>
        <p:spPr>
          <a:xfrm>
            <a:off x="10195560" y="427939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229600" y="50749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29600" y="52120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884K</a:t>
            </a:r>
            <a:endParaRPr lang="en-US" sz="3600" dirty="0"/>
          </a:p>
        </p:txBody>
      </p:sp>
      <p:sp>
        <p:nvSpPr>
          <p:cNvPr id="44" name="Text 41"/>
          <p:cNvSpPr/>
          <p:nvPr/>
        </p:nvSpPr>
        <p:spPr>
          <a:xfrm>
            <a:off x="8229600" y="6014923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Operating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(Yr 5)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0195560" y="50749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D8F3D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0195560" y="5212080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25–30 yrs</a:t>
            </a:r>
            <a:endParaRPr lang="en-US" sz="3600" dirty="0"/>
          </a:p>
        </p:txBody>
      </p:sp>
      <p:sp>
        <p:nvSpPr>
          <p:cNvPr id="47" name="Text 44"/>
          <p:cNvSpPr/>
          <p:nvPr/>
        </p:nvSpPr>
        <p:spPr>
          <a:xfrm>
            <a:off x="10195560" y="6035040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risk sharing and credit protection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Multi-Layered Risk Management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11430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screening of all farms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financial literacy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94106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Pre-disbursement equipment verification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70048" y="10058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47288" y="11430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0048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Transfer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52928" y="2487168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07208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crop insurance (80% coverage)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07208" y="32735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Satellite-based climate index triggers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07208" y="394106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claims settlement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0056" y="10058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B7950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97296" y="11430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97296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0056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Sharing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02936" y="2487168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57216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farmer equity (20% women/youth)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57216" y="32735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Bank first-loss retention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57216" y="394106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IFF/Gates Foundation guarantee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70064" y="10058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5C403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47304" y="11430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47304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70064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Monitoring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52944" y="2487168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07224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Lersha digital farm monitoring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07224" y="32735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credit reviews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07224" y="394106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telemetry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720072" y="1005840"/>
            <a:ext cx="2240280" cy="4572000"/>
          </a:xfrm>
          <a:prstGeom prst="roundRect">
            <a:avLst>
              <a:gd name="adj" fmla="val 4082"/>
            </a:avLst>
          </a:prstGeom>
          <a:solidFill>
            <a:srgbClr val="2D6A4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497312" y="11430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97312" y="1143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20072" y="1920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Recovery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02952" y="2487168"/>
            <a:ext cx="18745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57232" y="26060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insurance payout triggers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857232" y="327355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restructuring protocols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857232" y="394106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Off-taker agreement backstops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20040" y="5760720"/>
            <a:ext cx="11521440" cy="868680"/>
          </a:xfrm>
          <a:prstGeom prst="roundRect">
            <a:avLst>
              <a:gd name="adj" fmla="val 8421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57607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Insurance: 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60320" y="576072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80% of climate-related risks  |  Sum Insured: ETB 1.87B (~USD 11.3M)  |  Trigger: Satellite rainfall / drought / temperature index  |  Settlement: Automated data-driven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Risk Sharing Allocation Model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5623560" cy="1097280"/>
          </a:xfrm>
          <a:prstGeom prst="roundRect">
            <a:avLst>
              <a:gd name="adj" fmla="val 8333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55080" y="1371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 Equity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24160" y="1325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55080" y="18288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CAPEX investment commitment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560320"/>
            <a:ext cx="5623560" cy="109728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5508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Coverage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42416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55080" y="3108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– climate index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3840480"/>
            <a:ext cx="5623560" cy="1097280"/>
          </a:xfrm>
          <a:prstGeom prst="roundRect">
            <a:avLst>
              <a:gd name="adj" fmla="val 8333"/>
            </a:avLst>
          </a:prstGeom>
          <a:solidFill>
            <a:srgbClr val="B7950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5508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First Loss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424160" y="3886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55080" y="43891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retention for credit discipline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17920" y="5120640"/>
            <a:ext cx="5623560" cy="1097280"/>
          </a:xfrm>
          <a:prstGeom prst="roundRect">
            <a:avLst>
              <a:gd name="adj" fmla="val 8333"/>
            </a:avLst>
          </a:prstGeom>
          <a:solidFill>
            <a:srgbClr val="5C4033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55080" y="5212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Dev. Partner Guarantee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24160" y="5166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355080" y="5669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 Guarantee backed by Gates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12-step journey and three-phase scale-up plan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12-Step Farmer Implementation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9768" y="1188720"/>
            <a:ext cx="530352" cy="53035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887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2344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Mobilization &amp; Awareness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9544" y="10515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19272" y="1188720"/>
            <a:ext cx="530352" cy="53035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9272" y="11887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22776" y="12344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Initial Screening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9048" y="10515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08776" y="1188720"/>
            <a:ext cx="530352" cy="53035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8776" y="11887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12280" y="12344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Farm Assessment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8552" y="105156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98280" y="1188720"/>
            <a:ext cx="530352" cy="53035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8280" y="11887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01784" y="123444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Appraisal &amp; Risk Scoring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" y="2743200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2743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2788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Enrollment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9544" y="26060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19272" y="2743200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9272" y="2743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22776" y="2788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9048" y="26060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08776" y="2743200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08776" y="2743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2788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Verification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88552" y="260604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98280" y="2743200"/>
            <a:ext cx="530352" cy="53035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98280" y="27432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01784" y="27889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Disbursement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20040" y="41605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9768" y="429768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9768" y="4297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" y="4343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&amp; Irrigation Installation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209544" y="41605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9272" y="429768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9272" y="4297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22776" y="4343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&amp; Onboarding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099048" y="41605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08776" y="429768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4297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12280" y="4343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(Lersha)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988552" y="4160520"/>
            <a:ext cx="2834640" cy="1463040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098280" y="429768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098280" y="4297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701784" y="4343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Harvest, Marketing &amp; Repayment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Phasing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11430000" cy="640080"/>
          </a:xfrm>
          <a:prstGeom prst="rightArrow">
            <a:avLst/>
          </a:prstGeom>
          <a:solidFill>
            <a:srgbClr val="E9ECEF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2423160"/>
            <a:ext cx="914400" cy="10058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24231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– Pilot Stage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farmers in avocado &amp; banana clusters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women &amp; youth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~ETB 1.29 Billion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394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process validation &amp; learning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943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961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1.29B Portfolio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423160"/>
            <a:ext cx="914400" cy="10058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24231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97680" y="105156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0D948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1078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– Expansion Stage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3657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3484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5,000 farmers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geographic corridors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tech-flows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5394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~ETB 4.3 Billion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5943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5961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ETB 4.3B Portfolio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418320" y="2423160"/>
            <a:ext cx="914400" cy="1005840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418320" y="24231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229600" y="1051560"/>
            <a:ext cx="3657600" cy="1234440"/>
          </a:xfrm>
          <a:prstGeom prst="roundRect">
            <a:avLst>
              <a:gd name="adj" fmla="val 7407"/>
            </a:avLst>
          </a:prstGeom>
          <a:solidFill>
            <a:srgbClr val="B7950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1078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– National Scale-Up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0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365760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366760" y="37490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commercial integration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66760" y="4297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high-potential horticulture corridors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66760" y="4846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ESG leader position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66760" y="5394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model across Ethiopia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59436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03920" y="59618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Footprint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Projections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Bank-level revenue and profitability analysis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Portfolio – Revenue &amp; Profitability Projections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Pilot Portfolio: ETB 1.29 Billion  |  1,500 farmers  |  Average loan: ETB 860,000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5087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5087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 Net Profitability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965960"/>
          <a:ext cx="5760720" cy="265176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Projected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317,800,000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&amp; Admin 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Loss Provisioning (3%)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(Before Tax)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189,800,000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Portfolio (ROP)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892040"/>
            <a:ext cx="1143000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489204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Scale-Up (5,000 Farmers):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89120" y="4892040"/>
            <a:ext cx="7223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~ETB 1.06 Billion  |  Net Portfolio Profit (before tax): ~ETB 720 Million  |  Portfolio ROP: ~16.7%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&amp; Sustainability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social and governance framework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&amp; Climate Impact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703320" cy="5120640"/>
          </a:xfrm>
          <a:prstGeom prst="roundRect">
            <a:avLst>
              <a:gd name="adj" fmla="val 2963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1546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replacement of diesel pumps with solar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30–60% improvement in water-use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6849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GHG emission reductions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2686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Ethiopia's CRGE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28523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soil and water conservation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051560"/>
            <a:ext cx="3703320" cy="5120640"/>
          </a:xfrm>
          <a:prstGeom prst="roundRect">
            <a:avLst>
              <a:gd name="adj" fmla="val 2963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0972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297680" y="20116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1546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women &amp; youth participation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31012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Concessionary 20% equity for women/youth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96849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for rural households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62686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household incomes &amp; food 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528523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employment creation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1051560"/>
            <a:ext cx="3703320" cy="5120640"/>
          </a:xfrm>
          <a:prstGeom prst="roundRect">
            <a:avLst>
              <a:gd name="adj" fmla="val 2963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109728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8229600" y="20116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503920" y="2560320"/>
            <a:ext cx="31546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12480" y="2651760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data-driven credit appraisal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3310128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Satellite-verified tech telemetry (Lersha)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3968496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tripartite vendor disbursements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626864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insurance with automated claims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528523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M&amp;E with CIAT / ImpactSF oversight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&amp; Strategic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E5243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Poverty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rural household incomes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DDA63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0" y="11887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1783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Hunger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2468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food security &amp; nutrition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09728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FF3A21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118872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1783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Equality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595360" y="233172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youth financial inclusion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A21942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 Work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70916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rural employment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34747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3F7E44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0" y="35661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97680" y="41605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Action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470916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80560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GHG through solar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0" y="3474720"/>
            <a:ext cx="3703320" cy="2148840"/>
          </a:xfrm>
          <a:prstGeom prst="roundRect">
            <a:avLst>
              <a:gd name="adj" fmla="val 4255"/>
            </a:avLst>
          </a:prstGeom>
          <a:solidFill>
            <a:srgbClr val="56C02B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0" y="356616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229600" y="41605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on Land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595360" y="4709160"/>
            <a:ext cx="29718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land &amp; water use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6035040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6035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aligned with: Ethiopia CRGE Strategy  •  National Irrigation Development Strategy  •  National Financial Inclusion Strategy  •  CBO Agricultural Finance Strategy  •  ESG &amp; Green Finance Principles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Analysis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01168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templates, digital ecosystem and stakeholder value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Repayment Structure Templates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Banana – Quarterly Repayment (Annual Cycle)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309360" y="10058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Avocado – Annual Step-Up Repayment</a:t>
            </a:r>
            <a:endParaRPr lang="en-US" sz="15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577840" cy="2773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DS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6C75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(Grace)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2976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Enterprise Margin Summary (Per Hectare)</a:t>
            </a:r>
            <a:endParaRPr lang="en-US" sz="1500" dirty="0"/>
          </a:p>
        </p:txBody>
      </p:sp>
      <p:graphicFrame>
        <p:nvGraphicFramePr>
          <p:cNvPr id="9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51084"/>
              </p:ext>
            </p:extLst>
          </p:nvPr>
        </p:nvGraphicFramePr>
        <p:xfrm>
          <a:off x="365760" y="4800600"/>
          <a:ext cx="11430000" cy="15087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 (ETB)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 (Stable Production)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843,349.18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276,650.82</a:t>
                      </a: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Avocado (Full Mature Yield)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727,766.26</a:t>
                      </a: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622,233.74</a:t>
                      </a: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82AEC-946D-BCB0-771F-17980D048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478921"/>
              </p:ext>
            </p:extLst>
          </p:nvPr>
        </p:nvGraphicFramePr>
        <p:xfrm>
          <a:off x="365760" y="1669542"/>
          <a:ext cx="5516882" cy="2185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5747">
                  <a:extLst>
                    <a:ext uri="{9D8B030D-6E8A-4147-A177-3AD203B41FA5}">
                      <a16:colId xmlns:a16="http://schemas.microsoft.com/office/drawing/2014/main" val="906889076"/>
                    </a:ext>
                  </a:extLst>
                </a:gridCol>
                <a:gridCol w="1326641">
                  <a:extLst>
                    <a:ext uri="{9D8B030D-6E8A-4147-A177-3AD203B41FA5}">
                      <a16:colId xmlns:a16="http://schemas.microsoft.com/office/drawing/2014/main" val="1645709300"/>
                    </a:ext>
                  </a:extLst>
                </a:gridCol>
                <a:gridCol w="1472247">
                  <a:extLst>
                    <a:ext uri="{9D8B030D-6E8A-4147-A177-3AD203B41FA5}">
                      <a16:colId xmlns:a16="http://schemas.microsoft.com/office/drawing/2014/main" val="3284985433"/>
                    </a:ext>
                  </a:extLst>
                </a:gridCol>
                <a:gridCol w="1472247">
                  <a:extLst>
                    <a:ext uri="{9D8B030D-6E8A-4147-A177-3AD203B41FA5}">
                      <a16:colId xmlns:a16="http://schemas.microsoft.com/office/drawing/2014/main" val="4265494676"/>
                    </a:ext>
                  </a:extLst>
                </a:gridCol>
              </a:tblGrid>
              <a:tr h="86669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Quarterly</a:t>
                      </a:r>
                      <a:endParaRPr lang="en-US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Principal (ETB)</a:t>
                      </a:r>
                      <a:endParaRPr lang="en-US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Interest (ETB)</a:t>
                      </a:r>
                      <a:endParaRPr lang="en-US" sz="13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Total (ETB)</a:t>
                      </a:r>
                      <a:endParaRPr lang="en-US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860387"/>
                  </a:ext>
                </a:extLst>
              </a:tr>
              <a:tr h="4396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Q1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115,762.09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73,100.00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188,862.09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639546"/>
                  </a:ext>
                </a:extLst>
              </a:tr>
              <a:tr h="4396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Q2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125,601.87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63,260.22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188,862.09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625376"/>
                  </a:ext>
                </a:extLst>
              </a:tr>
              <a:tr h="43962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Annual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241,363.96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136,360.22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377,724.18</a:t>
                      </a:r>
                      <a:endParaRPr lang="en-US" sz="1300" b="1" i="0" u="none" strike="noStrike" dirty="0">
                        <a:solidFill>
                          <a:srgbClr val="1B4332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9344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Digital Ecosystem – Lersha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Lersha digitally monitors every financed farm — reducing credit risk while improving farmer outcomes.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201168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Farm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and sensor data tracks crop health, soil moisture, and weather conditions on every financed farm.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19088" y="201168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908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67728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Agronomic Advisory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7728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crop management recommendations delivered to farmers via mobile — irrigation schedules, fertilizer guidance, pest alerts.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370332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Monitoring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early warning signals for credit officers when farms show stress indicators or deviations from production plans.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19088" y="370332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908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67728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Trigger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67728" y="3840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Satellite-verified climate index data feeds directly into the parametric insurance framework for automated claims processing.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" y="539496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Linkage Support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5532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farmers with verified buyers, aggregators, and export companies through the Lersha platform's market access tools.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937760"/>
            <a:ext cx="5623560" cy="155448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19088" y="539496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19088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67728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Fee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67728" y="5532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flat service fee on facility — aligns Lersha's commercial incentives with farmer success and loan repayment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Cooperative Bank of Oromia?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Extensive Rural Network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96596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branch presence reaching smallholder farmers across horticulture clusters in Oromia and beyond.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05156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887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Agricultural Finance Expert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34840" y="187452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34840" y="196596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experience in agricultural lending, cooperative finance, and rural credit management.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83880" y="105156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188720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11887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Banking Platform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366760" y="187452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366760" y="196596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digital infrastructure to support loan management, disbursements, and farmer monitoring.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365760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9476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 Relationships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2920" y="448056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02920" y="457200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existing partnerships with farmer cooperatives, enhancing trust and loan repayment culture.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51960" y="365760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794760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636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&amp; Green Finance Leader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434840" y="448056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4434840" y="457200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climate-resilient investment and ESG principles, attracting development finance partners.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83880" y="3657600"/>
            <a:ext cx="3703320" cy="2377440"/>
          </a:xfrm>
          <a:prstGeom prst="roundRect">
            <a:avLst>
              <a:gd name="adj" fmla="val 3846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794760"/>
            <a:ext cx="594360" cy="5943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794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Partner Ready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8366760" y="4480560"/>
            <a:ext cx="333756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8366760" y="4572000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to collaborate with ATI, MoA, CIAT, IFF/Gates Foundation, and international donors.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– Value for All Stakeholders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long-term financing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irrigation costs (40–60%)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productivity &amp; income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Climate-risk protection via insurance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digital advisory services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8872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CBO (Bank)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7472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8328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agricultural loan portfolio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8328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loan repayment performance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8328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revenue streams (fees, insurance)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8328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ESG/green finance leadership positioning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8328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model for national replication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685800" cy="685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Partners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40080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30936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climate-smart agriculture adoption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financial inclusion impact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936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proof-of-concept for Ethiopia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0936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SDGs 1, 2, 5, 8, 13, 15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GHG reduction outcomes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09828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5C4033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188720"/>
            <a:ext cx="685800" cy="6858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9828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32688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23544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diesel fuel imports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23544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toward CRGE targets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23544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food security outcomes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23544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earnings from avocado/banana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923544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economic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 Profile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28016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17043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1 hectare (priority)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23760" y="1170432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for commercially viable smallholders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2212848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Farming 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years in horticulture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103120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strong technical support for new entrants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3145536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035808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Irrigation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035808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or planned water source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035808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validated during technical assessment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078224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968496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Linkage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968496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Off-taker agreement or cooperative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968496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established marketing channels required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828032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" y="5010912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901184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Account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4901184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 with CBO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4901184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loan disbursement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5760720"/>
            <a:ext cx="11430000" cy="841248"/>
          </a:xfrm>
          <a:prstGeom prst="roundRect">
            <a:avLst>
              <a:gd name="adj" fmla="val 10870"/>
            </a:avLst>
          </a:prstGeom>
          <a:solidFill>
            <a:srgbClr val="F8F9F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" y="5943600"/>
            <a:ext cx="457200" cy="4572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5833872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91840" y="5833872"/>
            <a:ext cx="3840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enrollment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5833872"/>
            <a:ext cx="4389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Oromia Insurance Company parametric scheme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– Economic, Social &amp; Environmental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1B4332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banana &amp; avocado productivity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irrigation operating costs 40–60%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farmer household incomes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ETB 1.29B pilot portfolio deployed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ETB 4.3B in Phase 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0D9488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8872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7472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8328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 women &amp; youth participation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8328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rural financial inclusion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8328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household food security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8328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agricultural employment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8328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youth engagement in horticulture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3F7E44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188720"/>
            <a:ext cx="685800" cy="6858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40080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30936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diesel pump replacement with solar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GHG emission reduction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30936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30–60% improved water-use efficiency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30936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CRGE climate targets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land &amp; water stewardship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098280" y="1051560"/>
            <a:ext cx="2788920" cy="5120640"/>
          </a:xfrm>
          <a:prstGeom prst="roundRect">
            <a:avLst>
              <a:gd name="adj" fmla="val 3934"/>
            </a:avLst>
          </a:prstGeom>
          <a:solidFill>
            <a:srgbClr val="B7950B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1188720"/>
            <a:ext cx="685800" cy="6858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98280" y="1920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326880" y="2468880"/>
            <a:ext cx="2331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9235440" y="2606040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emerges as ESG finance leader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235440" y="326440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nationwide model proven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235440" y="3922776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bank-farmer-government ties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235440" y="4581144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agriculture mainstreamed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9235440" y="523951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partner confidence built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6400800" cy="6400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52B788">
              <a:alpha val="28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974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2743200" y="4114800"/>
            <a:ext cx="667512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251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Cooperative Bank of Oromia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Climate-Smart Horticulture Loan – Product Development Proposal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Greener, More Prosperous Rural Ethiopia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2989</Words>
  <Application>Microsoft Office PowerPoint</Application>
  <PresentationFormat>Widescreen</PresentationFormat>
  <Paragraphs>820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Climate-Smart Horticulture Loan – Cooperative Bank of Oromia</dc:title>
  <dc:subject>PptxGenJS Presentation</dc:subject>
  <dc:creator>Cooperative Bank of Oromia</dc:creator>
  <cp:lastModifiedBy>Ulfata Zawude Buta</cp:lastModifiedBy>
  <cp:revision>2</cp:revision>
  <dcterms:created xsi:type="dcterms:W3CDTF">2026-06-29T10:40:51Z</dcterms:created>
  <dcterms:modified xsi:type="dcterms:W3CDTF">2026-06-30T06:54:46Z</dcterms:modified>
</cp:coreProperties>
</file>